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slide" Target="slides/slide8.xml"/><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Recimo da imamo podatke i ne znamo iz koje tačno distribucije ili kombinacije distribucija dolaze. To je težak problem. Kako ga riješiti?</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badbd78ea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badbd78ea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Ovaj grafik je generisan jednostavnom uniformnom raspodjelom, ali šta ako je u pitanju neka druga raspodjela? Mogao je ovaj grafik biti bilo šta. Kada imamo mnogo podataka koje možemo vidjeti onda nam je lakše jer dosta stvari možemo očitati sa grafika, ali kada nemamo onda nam je potreban matematički način da obradimo te podatke.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badbd78eae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badbd78eae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Pitanje: da li iko prepoznaje ovu distribuciju? (U pitanju je normalna/Gaussova raspodjela). Normalna raspodjela ima 2 parametra - očekivanu vrijednost i standardnu devijaciju tj. varijansu.</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badbd78eae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badbd78eae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imamo kada imamo ovaj treći slučaj. Ovaj grafik se sastoji od dvije sastavljene normalne distribucije. Sada su se stvari zakomplicirale - imamo 5 parametara!</a:t>
            </a:r>
            <a:endParaRPr/>
          </a:p>
          <a:p>
            <a:pPr indent="0" lvl="0" marL="0" rtl="0" algn="l">
              <a:spcBef>
                <a:spcPts val="0"/>
              </a:spcBef>
              <a:spcAft>
                <a:spcPts val="0"/>
              </a:spcAft>
              <a:buNone/>
            </a:pPr>
            <a:r>
              <a:rPr lang="en"/>
              <a:t>EM algoritam je algoritam koji se bavi ovim problemom (spomenuti kako ne moraju biti samo dvije normalne raspodjele, nego može biti k proizvoljnih raspodjela).</a:t>
            </a:r>
            <a:endParaRPr/>
          </a:p>
          <a:p>
            <a:pPr indent="0" lvl="0" marL="0" rtl="0" algn="l">
              <a:spcBef>
                <a:spcPts val="0"/>
              </a:spcBef>
              <a:spcAft>
                <a:spcPts val="0"/>
              </a:spcAft>
              <a:buNone/>
            </a:pPr>
            <a:r>
              <a:rPr lang="en"/>
              <a:t>Konačni cilj je dobiti matematički opis distribucije koja najsmislenije opisuje rezultate eksperimenta. Pošto su normalne raspodjele česte u statistici, moj rad se fokusira na određivanje parametara u slučaju da pretpostavljeni oblik distribucije je kombinacija dvije normalne distribucije.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badbd78eae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badbd78eae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CIlj je dobiti matematički opis, odnosno 5 parametara u ovom slučaju: 2 srednje vrijednosti, 2 standardne devijacije i međusobni odnos učestanosti uzoraka iz jedne, odnosno </a:t>
            </a:r>
            <a:r>
              <a:rPr lang="en"/>
              <a:t>druge normalne raspodjele. Kada to odredimo možemo dobiti matematički opis distribucije, koji što bolje fituje dobivene podatke.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badbd78eae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badbd78eae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je prikazano na ovom grafiku. Narandžastom prikazana aproksimacija, plavom je histogram sa prethodnog slajda.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badbd78eae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badbd78eae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badbd78eae_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badbd78eae_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badbd78eae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badbd78eae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badbd78eae_4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badbd78eae_4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badbd78eae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badbd78eae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128200" y="1578400"/>
            <a:ext cx="60156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Expectation Maximization algoritam</a:t>
            </a:r>
            <a:endParaRPr/>
          </a:p>
        </p:txBody>
      </p:sp>
      <p:sp>
        <p:nvSpPr>
          <p:cNvPr id="135" name="Google Shape;135;p13"/>
          <p:cNvSpPr txBox="1"/>
          <p:nvPr>
            <p:ph idx="1" type="subTitle"/>
          </p:nvPr>
        </p:nvSpPr>
        <p:spPr>
          <a:xfrm>
            <a:off x="5083950" y="3924925"/>
            <a:ext cx="3470700" cy="756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Projekat za predmet Signali i sistemi 2</a:t>
            </a:r>
            <a:endParaRPr/>
          </a:p>
          <a:p>
            <a:pPr indent="0" lvl="0" marL="0" rtl="0" algn="l">
              <a:spcBef>
                <a:spcPts val="0"/>
              </a:spcBef>
              <a:spcAft>
                <a:spcPts val="0"/>
              </a:spcAft>
              <a:buNone/>
            </a:pPr>
            <a:r>
              <a:rPr lang="en"/>
              <a:t>Profesor: prof. </a:t>
            </a:r>
            <a:r>
              <a:rPr lang="en"/>
              <a:t>d</a:t>
            </a:r>
            <a:r>
              <a:rPr lang="en"/>
              <a:t>r Emir Sokić</a:t>
            </a:r>
            <a:endParaRPr/>
          </a:p>
          <a:p>
            <a:pPr indent="0" lvl="0" marL="0" rtl="0" algn="l">
              <a:spcBef>
                <a:spcPts val="0"/>
              </a:spcBef>
              <a:spcAft>
                <a:spcPts val="0"/>
              </a:spcAft>
              <a:buNone/>
            </a:pPr>
            <a:r>
              <a:rPr lang="en"/>
              <a:t>Student: Berina Biberović</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14"/>
          <p:cNvPicPr preferRelativeResize="0"/>
          <p:nvPr/>
        </p:nvPicPr>
        <p:blipFill>
          <a:blip r:embed="rId3">
            <a:alphaModFix/>
          </a:blip>
          <a:stretch>
            <a:fillRect/>
          </a:stretch>
        </p:blipFill>
        <p:spPr>
          <a:xfrm>
            <a:off x="2514600" y="1200150"/>
            <a:ext cx="4114800" cy="2743200"/>
          </a:xfrm>
          <a:prstGeom prst="rect">
            <a:avLst/>
          </a:prstGeom>
          <a:noFill/>
          <a:ln>
            <a:noFill/>
          </a:ln>
        </p:spPr>
      </p:pic>
      <p:sp>
        <p:nvSpPr>
          <p:cNvPr id="143" name="Google Shape;143;p14"/>
          <p:cNvSpPr txBox="1"/>
          <p:nvPr/>
        </p:nvSpPr>
        <p:spPr>
          <a:xfrm>
            <a:off x="2797500" y="4191000"/>
            <a:ext cx="354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Slika 1: Jedna obična uniformna raspodjela</a:t>
            </a:r>
            <a:endParaRPr>
              <a:solidFill>
                <a:schemeClr val="l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49" name="Google Shape;149;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Tačan odgovor: normalna/Gaussova raspodjela</a:t>
            </a:r>
            <a:endParaRPr/>
          </a:p>
        </p:txBody>
      </p:sp>
      <p:pic>
        <p:nvPicPr>
          <p:cNvPr id="150" name="Google Shape;150;p15"/>
          <p:cNvPicPr preferRelativeResize="0"/>
          <p:nvPr/>
        </p:nvPicPr>
        <p:blipFill>
          <a:blip r:embed="rId3">
            <a:alphaModFix/>
          </a:blip>
          <a:stretch>
            <a:fillRect/>
          </a:stretch>
        </p:blipFill>
        <p:spPr>
          <a:xfrm>
            <a:off x="2514600" y="545263"/>
            <a:ext cx="4114800" cy="2743200"/>
          </a:xfrm>
          <a:prstGeom prst="rect">
            <a:avLst/>
          </a:prstGeom>
          <a:noFill/>
          <a:ln>
            <a:noFill/>
          </a:ln>
        </p:spPr>
      </p:pic>
      <p:sp>
        <p:nvSpPr>
          <p:cNvPr id="151" name="Google Shape;151;p15"/>
          <p:cNvSpPr txBox="1"/>
          <p:nvPr/>
        </p:nvSpPr>
        <p:spPr>
          <a:xfrm>
            <a:off x="3291450" y="3436025"/>
            <a:ext cx="256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Slika 2: Koja je ovo raspodjela?</a:t>
            </a:r>
            <a:endParaRPr>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57" name="Google Shape;157;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8" name="Google Shape;158;p16"/>
          <p:cNvPicPr preferRelativeResize="0"/>
          <p:nvPr/>
        </p:nvPicPr>
        <p:blipFill>
          <a:blip r:embed="rId3">
            <a:alphaModFix/>
          </a:blip>
          <a:stretch>
            <a:fillRect/>
          </a:stretch>
        </p:blipFill>
        <p:spPr>
          <a:xfrm>
            <a:off x="2514600" y="1010550"/>
            <a:ext cx="4114800" cy="2743200"/>
          </a:xfrm>
          <a:prstGeom prst="rect">
            <a:avLst/>
          </a:prstGeom>
          <a:noFill/>
          <a:ln>
            <a:noFill/>
          </a:ln>
        </p:spPr>
      </p:pic>
      <p:sp>
        <p:nvSpPr>
          <p:cNvPr id="159" name="Google Shape;159;p16"/>
          <p:cNvSpPr txBox="1"/>
          <p:nvPr/>
        </p:nvSpPr>
        <p:spPr>
          <a:xfrm>
            <a:off x="2661600" y="3893850"/>
            <a:ext cx="38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Slika 3: Dvije sastavljene normalne distribucije</a:t>
            </a:r>
            <a:endParaRPr>
              <a:solidFill>
                <a:schemeClr val="l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65" name="Google Shape;165;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6" name="Google Shape;166;p17"/>
          <p:cNvPicPr preferRelativeResize="0"/>
          <p:nvPr/>
        </p:nvPicPr>
        <p:blipFill>
          <a:blip r:embed="rId3">
            <a:alphaModFix/>
          </a:blip>
          <a:stretch>
            <a:fillRect/>
          </a:stretch>
        </p:blipFill>
        <p:spPr>
          <a:xfrm>
            <a:off x="2514600" y="748075"/>
            <a:ext cx="4114800" cy="2743200"/>
          </a:xfrm>
          <a:prstGeom prst="rect">
            <a:avLst/>
          </a:prstGeom>
          <a:noFill/>
          <a:ln>
            <a:noFill/>
          </a:ln>
        </p:spPr>
      </p:pic>
      <p:sp>
        <p:nvSpPr>
          <p:cNvPr id="167" name="Google Shape;167;p17"/>
          <p:cNvSpPr txBox="1"/>
          <p:nvPr/>
        </p:nvSpPr>
        <p:spPr>
          <a:xfrm>
            <a:off x="2836500" y="3602200"/>
            <a:ext cx="347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Slika 4: Opet dvije sastavljene normalne distribucije, ali su im parametri različiti</a:t>
            </a:r>
            <a:endParaRPr>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73" name="Google Shape;173;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4" name="Google Shape;174;p18"/>
          <p:cNvPicPr preferRelativeResize="0"/>
          <p:nvPr/>
        </p:nvPicPr>
        <p:blipFill>
          <a:blip r:embed="rId3">
            <a:alphaModFix/>
          </a:blip>
          <a:stretch>
            <a:fillRect/>
          </a:stretch>
        </p:blipFill>
        <p:spPr>
          <a:xfrm>
            <a:off x="2514600" y="777200"/>
            <a:ext cx="4114800" cy="2743200"/>
          </a:xfrm>
          <a:prstGeom prst="rect">
            <a:avLst/>
          </a:prstGeom>
          <a:noFill/>
          <a:ln>
            <a:noFill/>
          </a:ln>
        </p:spPr>
      </p:pic>
      <p:sp>
        <p:nvSpPr>
          <p:cNvPr id="175" name="Google Shape;175;p18"/>
          <p:cNvSpPr txBox="1"/>
          <p:nvPr/>
        </p:nvSpPr>
        <p:spPr>
          <a:xfrm>
            <a:off x="2756400" y="3660525"/>
            <a:ext cx="3631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Slika 6: Kako smo dobili ovu aproksimiranu distribuciju?</a:t>
            </a:r>
            <a:endParaRPr>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Matematička pozadina</a:t>
            </a:r>
            <a:endParaRPr/>
          </a:p>
        </p:txBody>
      </p:sp>
      <p:sp>
        <p:nvSpPr>
          <p:cNvPr id="181" name="Google Shape;181;p19"/>
          <p:cNvSpPr txBox="1"/>
          <p:nvPr>
            <p:ph idx="1" type="body"/>
          </p:nvPr>
        </p:nvSpPr>
        <p:spPr>
          <a:xfrm>
            <a:off x="1297500" y="15534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82" name="Google Shape;182;p19"/>
          <p:cNvPicPr preferRelativeResize="0"/>
          <p:nvPr/>
        </p:nvPicPr>
        <p:blipFill>
          <a:blip r:embed="rId3">
            <a:alphaModFix/>
          </a:blip>
          <a:stretch>
            <a:fillRect/>
          </a:stretch>
        </p:blipFill>
        <p:spPr>
          <a:xfrm>
            <a:off x="1297500" y="1307850"/>
            <a:ext cx="1665825" cy="672175"/>
          </a:xfrm>
          <a:prstGeom prst="rect">
            <a:avLst/>
          </a:prstGeom>
          <a:noFill/>
          <a:ln>
            <a:noFill/>
          </a:ln>
        </p:spPr>
      </p:pic>
      <p:pic>
        <p:nvPicPr>
          <p:cNvPr id="183" name="Google Shape;183;p19"/>
          <p:cNvPicPr preferRelativeResize="0"/>
          <p:nvPr/>
        </p:nvPicPr>
        <p:blipFill>
          <a:blip r:embed="rId4">
            <a:alphaModFix/>
          </a:blip>
          <a:stretch>
            <a:fillRect/>
          </a:stretch>
        </p:blipFill>
        <p:spPr>
          <a:xfrm>
            <a:off x="3689325" y="1307850"/>
            <a:ext cx="1895247" cy="359950"/>
          </a:xfrm>
          <a:prstGeom prst="rect">
            <a:avLst/>
          </a:prstGeom>
          <a:noFill/>
          <a:ln>
            <a:noFill/>
          </a:ln>
        </p:spPr>
      </p:pic>
      <p:pic>
        <p:nvPicPr>
          <p:cNvPr id="184" name="Google Shape;184;p19"/>
          <p:cNvPicPr preferRelativeResize="0"/>
          <p:nvPr/>
        </p:nvPicPr>
        <p:blipFill>
          <a:blip r:embed="rId5">
            <a:alphaModFix/>
          </a:blip>
          <a:stretch>
            <a:fillRect/>
          </a:stretch>
        </p:blipFill>
        <p:spPr>
          <a:xfrm>
            <a:off x="6222300" y="1300800"/>
            <a:ext cx="1969488" cy="374050"/>
          </a:xfrm>
          <a:prstGeom prst="rect">
            <a:avLst/>
          </a:prstGeom>
          <a:noFill/>
          <a:ln>
            <a:noFill/>
          </a:ln>
        </p:spPr>
      </p:pic>
      <p:pic>
        <p:nvPicPr>
          <p:cNvPr id="185" name="Google Shape;185;p19"/>
          <p:cNvPicPr preferRelativeResize="0"/>
          <p:nvPr/>
        </p:nvPicPr>
        <p:blipFill>
          <a:blip r:embed="rId6">
            <a:alphaModFix/>
          </a:blip>
          <a:stretch>
            <a:fillRect/>
          </a:stretch>
        </p:blipFill>
        <p:spPr>
          <a:xfrm>
            <a:off x="1191650" y="2571750"/>
            <a:ext cx="2452905" cy="374050"/>
          </a:xfrm>
          <a:prstGeom prst="rect">
            <a:avLst/>
          </a:prstGeom>
          <a:noFill/>
          <a:ln>
            <a:noFill/>
          </a:ln>
        </p:spPr>
      </p:pic>
      <p:pic>
        <p:nvPicPr>
          <p:cNvPr id="186" name="Google Shape;186;p19"/>
          <p:cNvPicPr preferRelativeResize="0"/>
          <p:nvPr/>
        </p:nvPicPr>
        <p:blipFill>
          <a:blip r:embed="rId7">
            <a:alphaModFix/>
          </a:blip>
          <a:stretch>
            <a:fillRect/>
          </a:stretch>
        </p:blipFill>
        <p:spPr>
          <a:xfrm>
            <a:off x="4221863" y="2442300"/>
            <a:ext cx="4219575" cy="1133475"/>
          </a:xfrm>
          <a:prstGeom prst="rect">
            <a:avLst/>
          </a:prstGeom>
          <a:noFill/>
          <a:ln>
            <a:noFill/>
          </a:ln>
        </p:spPr>
      </p:pic>
      <p:pic>
        <p:nvPicPr>
          <p:cNvPr id="187" name="Google Shape;187;p19"/>
          <p:cNvPicPr preferRelativeResize="0"/>
          <p:nvPr/>
        </p:nvPicPr>
        <p:blipFill>
          <a:blip r:embed="rId8">
            <a:alphaModFix/>
          </a:blip>
          <a:stretch>
            <a:fillRect/>
          </a:stretch>
        </p:blipFill>
        <p:spPr>
          <a:xfrm>
            <a:off x="2865025" y="3939700"/>
            <a:ext cx="2924175" cy="333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10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Pseudokod</a:t>
            </a:r>
            <a:endParaRPr/>
          </a:p>
        </p:txBody>
      </p:sp>
      <p:sp>
        <p:nvSpPr>
          <p:cNvPr id="193" name="Google Shape;193;p2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4" name="Google Shape;194;p20"/>
          <p:cNvPicPr preferRelativeResize="0"/>
          <p:nvPr/>
        </p:nvPicPr>
        <p:blipFill>
          <a:blip r:embed="rId3">
            <a:alphaModFix/>
          </a:blip>
          <a:stretch>
            <a:fillRect/>
          </a:stretch>
        </p:blipFill>
        <p:spPr>
          <a:xfrm>
            <a:off x="2131725" y="1116775"/>
            <a:ext cx="5370453" cy="3530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ph type="title"/>
          </p:nvPr>
        </p:nvSpPr>
        <p:spPr>
          <a:xfrm>
            <a:off x="1297500" y="393750"/>
            <a:ext cx="7038900" cy="411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Implementacija...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05" name="Google Shape;205;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Hvala na pažnji!</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